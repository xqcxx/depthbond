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589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TESTNET VIDEO DEMO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1143000"/>
            <a:ext cx="56692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Depth earns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when it stays.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314553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B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epoch-based system that rewards committed liquidity when it supports real trading demand.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9959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4F1E8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404622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UNISWAP V4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993392" y="3995928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F4F1E8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4046220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REACTIVE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346704" y="3995928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40462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TESTNET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488936" y="749808"/>
            <a:ext cx="3794760" cy="5230368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0789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EPOCH PULSE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54112" y="1508760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#01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78181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8FB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299008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Liquidity is eligible only when it is present before the reliability baseline is frozen.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4096512"/>
            <a:ext cx="3026664" cy="0"/>
          </a:xfrm>
          <a:prstGeom prst="line">
            <a:avLst/>
          </a:prstGeom>
          <a:noFill/>
          <a:ln w="12700">
            <a:solidFill>
              <a:srgbClr val="5360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43525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AEB9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LIVE INPUTS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36408" y="4754880"/>
            <a:ext cx="100584" cy="100584"/>
          </a:xfrm>
          <a:prstGeom prst="ellipse">
            <a:avLst/>
          </a:prstGeom>
          <a:solidFill>
            <a:srgbClr val="C8FB3F"/>
          </a:solidFill>
          <a:ln w="12700">
            <a:solidFill>
              <a:srgbClr val="C8FB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46908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v4 swap observed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36408" y="5102352"/>
            <a:ext cx="100584" cy="100584"/>
          </a:xfrm>
          <a:prstGeom prst="ellipse">
            <a:avLst/>
          </a:prstGeom>
          <a:solidFill>
            <a:srgbClr val="FF6744"/>
          </a:solidFill>
          <a:ln w="12700">
            <a:solidFill>
              <a:srgbClr val="FF6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5038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bond at stake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5733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spc="12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UNISWAP V4 x REACTIVE NETWORK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Liquidity can be there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 the trade, not the market.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E5B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LP incentives do not distinguish durable depth from capital that arrives only for the best moments.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40096" cy="2514600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TRANSIENT CAPITAL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3355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JIT liquidity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1248" y="39776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361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Arrives around a favorable swap, captures upside, then leaves before it has carried reliability risk.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969264" cy="1755648"/>
          </a:xfrm>
          <a:prstGeom prst="rect">
            <a:avLst/>
          </a:prstGeom>
          <a:solidFill>
            <a:srgbClr val="FF6744"/>
          </a:solidFill>
          <a:ln w="10160">
            <a:solidFill>
              <a:srgbClr val="FF6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28269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FAST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700016" y="3803904"/>
            <a:ext cx="722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1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fee capture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81928" y="2743200"/>
            <a:ext cx="5340096" cy="2514600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3035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DURABLE DEPTH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74536" y="33558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Committed liquidity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574536" y="39776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Stays through the epoch, supports execution quality, and bears the cost of being dependable.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451592" y="2880360"/>
            <a:ext cx="859536" cy="1755648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24744" y="328269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STAYS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0524744" y="3803904"/>
            <a:ext cx="649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reliability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THE IDEA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Turn reliability into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 explicit market input.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3374136" cy="2514600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78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Commit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7307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361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LP deposits liquidity plus a native-token bond.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3995928" y="3337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7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0" y="2304288"/>
            <a:ext cx="3374136" cy="2514600"/>
          </a:xfrm>
          <a:prstGeom prst="rect">
            <a:avLst/>
          </a:prstGeom>
          <a:solidFill>
            <a:srgbClr val="C8FB3F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45152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Snapshot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45152" y="37307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361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liquidity present before epoch start is eligible.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7818120" y="3337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7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11312" y="2304288"/>
            <a:ext cx="3374136" cy="2514600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2578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67344" y="2990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Reward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67344" y="373075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Qualifying volume directs the fixed epoch budget.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566928" y="53583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872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does not punish an LP for being out of range. It rewards liquidity that was both committed and useful.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ECONOMIC RULES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LP outcomes.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simple rule set.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ENTRY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86200" y="2057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AT SETTLEMENT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90688" y="20574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OUTCOME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423160"/>
            <a:ext cx="11045952" cy="749808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65176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651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snapshot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range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624328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2674620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ELIGIBLE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790688" y="2651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claims reward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410712"/>
            <a:ext cx="11045952" cy="749808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639312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 snapshot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8620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 of range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3611880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F4F1E8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66217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ELIGIBLE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790688" y="363931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reward, no slash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398264"/>
            <a:ext cx="11045952" cy="749808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62686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20240" y="46268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 snapshot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86200" y="4626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exits early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08776" y="459943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FF6744"/>
          </a:solidFill>
          <a:ln w="10160">
            <a:solidFill>
              <a:srgbClr val="FF6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464972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INELIGIBLE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790688" y="46268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25% bond to reserve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559552"/>
            <a:ext cx="11045952" cy="43891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660136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 exit penalty is deterministic: 25% of the bond returns to the reward reserve.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local event.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authenticated settlement.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167128" cy="98755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496312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2907792"/>
            <a:ext cx="1801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72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 liquidity + bond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18688" y="2286000"/>
            <a:ext cx="2167128" cy="987552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496312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DepthBond Vault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19856" y="2907792"/>
            <a:ext cx="1801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commitments + rewards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870448" y="2286000"/>
            <a:ext cx="2167128" cy="98755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2496312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Uniswap v4 Hook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1616" y="2907792"/>
            <a:ext cx="1801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72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observes post-swap tick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522208" y="2286000"/>
            <a:ext cx="2167128" cy="98755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3376" y="2496312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Epoch Controller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23376" y="2907792"/>
            <a:ext cx="1801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872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snapshot + close request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825496" y="2642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7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77256" y="2642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7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9016" y="2642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7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0" y="3429000"/>
            <a:ext cx="0" cy="621792"/>
          </a:xfrm>
          <a:prstGeom prst="line">
            <a:avLst/>
          </a:prstGeom>
          <a:noFill/>
          <a:ln w="16510">
            <a:solidFill>
              <a:srgbClr val="FF6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37856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EpochCloseRequested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10528" y="4315968"/>
            <a:ext cx="3063240" cy="1033272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45720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REACTIVE LASNA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57416" y="481888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DepthBond RSC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37576" y="5376672"/>
            <a:ext cx="0" cy="329184"/>
          </a:xfrm>
          <a:prstGeom prst="line">
            <a:avLst/>
          </a:prstGeom>
          <a:noFill/>
          <a:ln w="16510">
            <a:solidFill>
              <a:srgbClr val="FF6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5559552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authenticated callback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8037576" y="5705856"/>
            <a:ext cx="1563624" cy="0"/>
          </a:xfrm>
          <a:prstGeom prst="line">
            <a:avLst/>
          </a:prstGeom>
          <a:noFill/>
          <a:ln w="16510">
            <a:solidFill>
              <a:srgbClr val="FF6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0" y="5705856"/>
            <a:ext cx="0" cy="-237744"/>
          </a:xfrm>
          <a:prstGeom prst="line">
            <a:avLst/>
          </a:prstGeom>
          <a:noFill/>
          <a:ln w="16510">
            <a:solidFill>
              <a:srgbClr val="FF6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22208" y="5468112"/>
            <a:ext cx="2167128" cy="62179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96528" y="566928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settleEpoch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SECURITY BOUNDARIES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Automation is useful.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Authorization is mandatory.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971800"/>
            <a:ext cx="3383280" cy="2194560"/>
          </a:xfrm>
          <a:prstGeom prst="rect">
            <a:avLst/>
          </a:prstGeom>
          <a:solidFill>
            <a:srgbClr val="304038"/>
          </a:solidFill>
          <a:ln w="10160">
            <a:solidFill>
              <a:srgbClr val="536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46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CREATE2-MINED HOOK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hook address carries the exact Uniswap v4 permission bits it needs.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2971800"/>
            <a:ext cx="3383280" cy="2194560"/>
          </a:xfrm>
          <a:prstGeom prst="rect">
            <a:avLst/>
          </a:prstGeom>
          <a:solidFill>
            <a:srgbClr val="304038"/>
          </a:solidFill>
          <a:ln w="10160">
            <a:solidFill>
              <a:srgbClr val="536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246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MANAGED EXIT PATH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the configured executor can remove a live v4 position.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2971800"/>
            <a:ext cx="3383280" cy="2194560"/>
          </a:xfrm>
          <a:prstGeom prst="rect">
            <a:avLst/>
          </a:prstGeom>
          <a:solidFill>
            <a:srgbClr val="304038"/>
          </a:solidFill>
          <a:ln w="10160">
            <a:solidFill>
              <a:srgbClr val="536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246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0" y="36118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RVM + NONCE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Settlement accepts the callback proxy, the expected RVM ID, and one unused nonce.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AEB9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AEB9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LIVE DEPLOYMENT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Fresh contracts.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Public proof.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E5B5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Unichain deployment is verified on Blockscout. The walkthrough reads real state and links every action to a real receipt.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5212080" cy="2542032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26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UNICHAIN SEPOLIA / VERIFIED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34747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VAULT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57984" y="347472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0x322A...A9E8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56632" y="3511296"/>
            <a:ext cx="100584" cy="100584"/>
          </a:xfrm>
          <a:prstGeom prst="ellipse">
            <a:avLst/>
          </a:prstGeom>
          <a:solidFill>
            <a:srgbClr val="C8FB3F"/>
          </a:solidFill>
          <a:ln w="12700">
            <a:solidFill>
              <a:srgbClr val="C8F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58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57984" y="38587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0xA70a...c8CE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56632" y="3895344"/>
            <a:ext cx="100584" cy="100584"/>
          </a:xfrm>
          <a:prstGeom prst="ellipse">
            <a:avLst/>
          </a:prstGeom>
          <a:solidFill>
            <a:srgbClr val="C8FB3F"/>
          </a:solidFill>
          <a:ln w="12700">
            <a:solidFill>
              <a:srgbClr val="C8FB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428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V4 HOOK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57984" y="42428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0xFCAe...0740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56632" y="4279392"/>
            <a:ext cx="100584" cy="100584"/>
          </a:xfrm>
          <a:prstGeom prst="ellipse">
            <a:avLst/>
          </a:prstGeom>
          <a:solidFill>
            <a:srgbClr val="C8FB3F"/>
          </a:solidFill>
          <a:ln w="12700">
            <a:solidFill>
              <a:srgbClr val="C8F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6268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EXECUTOR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57984" y="462686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4F1E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0x087F...733E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56632" y="4663440"/>
            <a:ext cx="100584" cy="100584"/>
          </a:xfrm>
          <a:prstGeom prst="ellipse">
            <a:avLst/>
          </a:prstGeom>
          <a:solidFill>
            <a:srgbClr val="C8FB3F"/>
          </a:solidFill>
          <a:ln w="12700">
            <a:solidFill>
              <a:srgbClr val="C8FB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743200"/>
            <a:ext cx="5394960" cy="254203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026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REACTIVE LASNA / SETUP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0528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RSC -&gt; RVM ID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6510528" y="411480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5361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Reactive RSC is source-verified through Sourcify. Its mapped RVM ID is bound once on the Unichain controller.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6510528" y="4791456"/>
            <a:ext cx="1536192" cy="274320"/>
          </a:xfrm>
          <a:prstGeom prst="roundRect">
            <a:avLst>
              <a:gd name="adj" fmla="val 26667"/>
            </a:avLst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484174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 VERIFIED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193024" y="4791456"/>
            <a:ext cx="1243584" cy="274320"/>
          </a:xfrm>
          <a:prstGeom prst="roundRect">
            <a:avLst>
              <a:gd name="adj" fmla="val 26667"/>
            </a:avLst>
          </a:prstGeom>
          <a:solidFill>
            <a:srgbClr val="F4F1E8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48417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RVM BOUND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 w="10160">
            <a:solidFill>
              <a:srgbClr val="F4F1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1185855" cy="0"/>
          </a:xfrm>
          <a:prstGeom prst="line">
            <a:avLst/>
          </a:prstGeom>
          <a:noFill/>
          <a:ln w="11430">
            <a:solidFill>
              <a:srgbClr val="192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949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WALKTHROUGH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94183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video demo with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23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transaction-backed evidence.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3364992" cy="89611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33172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95528" y="2615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Bind RVM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148840"/>
            <a:ext cx="3364992" cy="89611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33172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17720" y="2615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 actors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38744" y="2148840"/>
            <a:ext cx="3364992" cy="89611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33172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39912" y="2615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 Ada + Bao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355848"/>
            <a:ext cx="3364992" cy="89611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53872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95528" y="38221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Begin epoch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16552" y="3355848"/>
            <a:ext cx="3364992" cy="896112"/>
          </a:xfrm>
          <a:prstGeom prst="rect">
            <a:avLst/>
          </a:prstGeom>
          <a:solidFill>
            <a:srgbClr val="FF6744"/>
          </a:solidFill>
          <a:ln w="10160">
            <a:solidFill>
              <a:srgbClr val="FF6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53872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17720" y="38221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JIT enters + exits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38744" y="3355848"/>
            <a:ext cx="3364992" cy="89611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9912" y="353872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39912" y="382219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Trader swaps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562856"/>
            <a:ext cx="3364992" cy="896112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74573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5528" y="5029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 request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16552" y="4562856"/>
            <a:ext cx="3364992" cy="896112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74573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17720" y="5029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Reactive settles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4956048"/>
            <a:ext cx="100584" cy="100584"/>
          </a:xfrm>
          <a:prstGeom prst="ellipse">
            <a:avLst/>
          </a:prstGeom>
          <a:solidFill>
            <a:srgbClr val="3E7A08"/>
          </a:solidFill>
          <a:ln w="12700">
            <a:solidFill>
              <a:srgbClr val="3E7A0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38744" y="4562856"/>
            <a:ext cx="3364992" cy="896112"/>
          </a:xfrm>
          <a:prstGeom prst="rect">
            <a:avLst/>
          </a:prstGeom>
          <a:solidFill>
            <a:srgbClr val="FFFDF7"/>
          </a:solidFill>
          <a:ln w="10160">
            <a:solidFill>
              <a:srgbClr val="C9C5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9912" y="474573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68726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39912" y="50292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Claim rewards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5742432"/>
            <a:ext cx="11018520" cy="347472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843016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F4F1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completed action becomes a public evidence row: wallet role, transaction, block number, and explanation.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1F"/>
          </a:solidFill>
          <a:ln w="10160">
            <a:solidFill>
              <a:srgbClr val="192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49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TAKEAWAY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59436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Reward the depth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4F1E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that stays.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94360" y="2871216"/>
            <a:ext cx="5303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DDD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DepthBond gives reliability a clear economic shape: commit before the epoch, support real trading, earn the reward.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79208" y="1088136"/>
            <a:ext cx="3840480" cy="4315968"/>
          </a:xfrm>
          <a:prstGeom prst="rect">
            <a:avLst/>
          </a:prstGeom>
          <a:solidFill>
            <a:srgbClr val="C8FB3F"/>
          </a:solidFill>
          <a:ln w="10160">
            <a:solidFill>
              <a:srgbClr val="C8FB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43560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DEMO OUTCOME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0" y="19476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05672" y="19476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2331720"/>
            <a:ext cx="3118104" cy="0"/>
          </a:xfrm>
          <a:prstGeom prst="line">
            <a:avLst/>
          </a:prstGeom>
          <a:noFill/>
          <a:ln w="10160">
            <a:solidFill>
              <a:srgbClr val="9CC5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7980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05672" y="279806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slashed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0" y="3182112"/>
            <a:ext cx="3118104" cy="0"/>
          </a:xfrm>
          <a:prstGeom prst="line">
            <a:avLst/>
          </a:prstGeom>
          <a:noFill/>
          <a:ln w="10160">
            <a:solidFill>
              <a:srgbClr val="9CC5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648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231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6484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231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penalty to reserve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4032504"/>
            <a:ext cx="3118104" cy="0"/>
          </a:xfrm>
          <a:prstGeom prst="line">
            <a:avLst/>
          </a:prstGeom>
          <a:noFill/>
          <a:ln w="10160">
            <a:solidFill>
              <a:srgbClr val="9CC5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66928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spc="110" kern="0" dirty="0">
                <a:solidFill>
                  <a:srgbClr val="C8FB3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Uniswap v4 x Reactive Network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AEB9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DEPTHBOND / UNICHAIN SEPOLIA / REACTIVE LASNA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110996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140" kern="0" dirty="0">
                <a:solidFill>
                  <a:srgbClr val="AEB9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DepthBond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DepthBond: Reliable Liquidity Earns Rewards</dc:title>
  <dc:subject>DepthBond testnet demo</dc:subject>
  <dc:creator>DepthBond</dc:creator>
  <cp:lastModifiedBy>DepthBond</cp:lastModifiedBy>
  <cp:revision>1</cp:revision>
  <dcterms:created xsi:type="dcterms:W3CDTF">2026-09-01T12:32:23Z</dcterms:created>
  <dcterms:modified xsi:type="dcterms:W3CDTF">2026-09-01T12:32:23Z</dcterms:modified>
</cp:coreProperties>
</file>